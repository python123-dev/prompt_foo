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9a0d224-bd6c-d235-8c97-5c9fc0d829c6}">
          <p14:sldIdLst>
            <p14:sldId id="256"/>
            <p14:sldId id="257"/>
            <p14:sldId id="258"/>
          </p14:sldIdLst>
        </p14:section>
        <p14:section name="Why and where" id="{90d59d5b-e35a-f988-d223-744a67b09e18}">
          <p14:sldIdLst>
            <p14:sldId id="259"/>
            <p14:sldId id="260"/>
          </p14:sldIdLst>
        </p14:section>
        <p14:section name="How it works" id="{1bb8b98d-364a-190f-fb27-64bf58c40f51}">
          <p14:sldIdLst>
            <p14:sldId id="261"/>
            <p14:sldId id="262"/>
            <p14:sldId id="263"/>
            <p14:sldId id="264"/>
          </p14:sldIdLst>
        </p14:section>
        <p14:section name="Results" id="{6f56a27f-db8b-dc52-1fe6-2bdf2bf0b6bd}">
          <p14:sldIdLst>
            <p14:sldId id="265"/>
          </p14:sldIdLst>
        </p14:section>
        <p14:section name="Scope" id="{f0cc9a14-bba2-0caa-f2ba-1d1060393fbd}">
          <p14:sldIdLst>
            <p14:sldId id="266"/>
            <p14:sldId id="267"/>
          </p14:sldIdLst>
        </p14:section>
        <p14:section name="Wrap-up" id="{06940b11-795f-dadf-1629-c5b565f92af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why we test AI apps, where promptfoo fits, how to add it to a project, and what it can and cannot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how do you know your chatbot works? Most answer 'I tried a few questions'. That is the problem promptfoo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formula left to right. Prompts times providers times tests gives a grid of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reasons. The first three matter most for beginners: repeatable tests, comparisons, and catching regressions.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most teams start with prompt engineering or RAG and later add CI and red teaming.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promptfoo is the examiner and your app is the student. Your code does not import promptfoo.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steps are the whole integration. Step 3 is the only one that depends on your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trimmed copy of the real promptfooconfig.yaml from our RAG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cheap and exact. Judges handle meaning but are not perfect, and they cost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results from the project. Point out that terse fails because it has no facts and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tour of the feature list. Students can explore each one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limits. The 0.00 faithfulness score on I-don't-know is a real example from our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takeaways, then give the try-it exercises as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486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promptfoo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60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evaluating AI apps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Where  ·  How  ·  Can and cannot</a:t>
            </a:r>
            <a:endParaRPr lang="en-US" sz="1400" dirty="0"/>
          </a:p>
        </p:txBody>
      </p:sp>
      <p:sp>
        <p:nvSpPr>
          <p:cNvPr id="6" name="grid cell 0"/>
          <p:cNvSpPr/>
          <p:nvPr/>
        </p:nvSpPr>
        <p:spPr>
          <a:xfrm>
            <a:off x="6355080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grid cell 1"/>
          <p:cNvSpPr/>
          <p:nvPr/>
        </p:nvSpPr>
        <p:spPr>
          <a:xfrm>
            <a:off x="7104888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grid cell 2"/>
          <p:cNvSpPr/>
          <p:nvPr/>
        </p:nvSpPr>
        <p:spPr>
          <a:xfrm>
            <a:off x="7854696" y="1234440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grid cell 3"/>
          <p:cNvSpPr/>
          <p:nvPr/>
        </p:nvSpPr>
        <p:spPr>
          <a:xfrm>
            <a:off x="6355080" y="1984248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grid cell 4"/>
          <p:cNvSpPr/>
          <p:nvPr/>
        </p:nvSpPr>
        <p:spPr>
          <a:xfrm>
            <a:off x="7104888" y="1984248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grid cell 5"/>
          <p:cNvSpPr/>
          <p:nvPr/>
        </p:nvSpPr>
        <p:spPr>
          <a:xfrm>
            <a:off x="7854696" y="1984248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grid cell 6"/>
          <p:cNvSpPr/>
          <p:nvPr/>
        </p:nvSpPr>
        <p:spPr>
          <a:xfrm>
            <a:off x="6355080" y="2734056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grid cell 7"/>
          <p:cNvSpPr/>
          <p:nvPr/>
        </p:nvSpPr>
        <p:spPr>
          <a:xfrm>
            <a:off x="7104888" y="2734056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grid cell 8"/>
          <p:cNvSpPr/>
          <p:nvPr/>
        </p:nvSpPr>
        <p:spPr>
          <a:xfrm>
            <a:off x="7854696" y="2734056"/>
            <a:ext cx="640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508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grid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test AI apps at all</a:t>
            </a:r>
            <a:endParaRPr lang="en-US" sz="3200" dirty="0"/>
          </a:p>
        </p:txBody>
      </p:sp>
      <p:sp>
        <p:nvSpPr>
          <p:cNvPr id="4" name="quote card"/>
          <p:cNvSpPr/>
          <p:nvPr/>
        </p:nvSpPr>
        <p:spPr>
          <a:xfrm>
            <a:off x="457200" y="1280160"/>
            <a:ext cx="3291840" cy="2286000"/>
          </a:xfrm>
          <a:prstGeom prst="roundRect">
            <a:avLst>
              <a:gd name="adj" fmla="val 32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15544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tried it a few times and it looked fine.”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untested AI app</a:t>
            </a:r>
            <a:endParaRPr lang="en-US" sz="1200" dirty="0"/>
          </a:p>
        </p:txBody>
      </p:sp>
      <p:sp>
        <p:nvSpPr>
          <p:cNvPr id="7" name="problem card 1"/>
          <p:cNvSpPr/>
          <p:nvPr/>
        </p:nvSpPr>
        <p:spPr>
          <a:xfrm>
            <a:off x="4023360" y="1280160"/>
            <a:ext cx="46634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51960" y="1371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different answer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changes from run to run</a:t>
            </a:r>
            <a:endParaRPr lang="en-US" sz="1600" dirty="0"/>
          </a:p>
        </p:txBody>
      </p:sp>
      <p:sp>
        <p:nvSpPr>
          <p:cNvPr id="9" name="problem card 2"/>
          <p:cNvSpPr/>
          <p:nvPr/>
        </p:nvSpPr>
        <p:spPr>
          <a:xfrm>
            <a:off x="4023360" y="2075688"/>
            <a:ext cx="46634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251960" y="21671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tweak breaks old cases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one thing quietly hurts another</a:t>
            </a:r>
            <a:endParaRPr lang="en-US" sz="1600" dirty="0"/>
          </a:p>
        </p:txBody>
      </p:sp>
      <p:sp>
        <p:nvSpPr>
          <p:cNvPr id="11" name="problem card 3"/>
          <p:cNvSpPr/>
          <p:nvPr/>
        </p:nvSpPr>
        <p:spPr>
          <a:xfrm>
            <a:off x="4023360" y="2871216"/>
            <a:ext cx="46634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251960" y="29626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models is a gamble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except by eye</a:t>
            </a:r>
            <a:endParaRPr lang="en-US" sz="1600" dirty="0"/>
          </a:p>
        </p:txBody>
      </p:sp>
      <p:sp>
        <p:nvSpPr>
          <p:cNvPr id="13" name="analogy strip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teacher with an answer key: promptfoo asks every question, grades every answer, and hands back a report card.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promptfoo?</a:t>
            </a:r>
            <a:endParaRPr lang="en-US" sz="3200" dirty="0"/>
          </a:p>
        </p:txBody>
      </p:sp>
      <p:sp>
        <p:nvSpPr>
          <p:cNvPr id="4" name="formula box 1"/>
          <p:cNvSpPr/>
          <p:nvPr/>
        </p:nvSpPr>
        <p:spPr>
          <a:xfrm>
            <a:off x="502920" y="128016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send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2801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7" name="formula box 2"/>
          <p:cNvSpPr/>
          <p:nvPr/>
        </p:nvSpPr>
        <p:spPr>
          <a:xfrm>
            <a:off x="2651760" y="128016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74320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answers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12801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10" name="formula box 3"/>
          <p:cNvSpPr/>
          <p:nvPr/>
        </p:nvSpPr>
        <p:spPr>
          <a:xfrm>
            <a:off x="4800600" y="128016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9204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+ checks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12801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3" name="formula box 4"/>
          <p:cNvSpPr/>
          <p:nvPr/>
        </p:nvSpPr>
        <p:spPr>
          <a:xfrm>
            <a:off x="6949440" y="1280160"/>
            <a:ext cx="1691640" cy="109728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40880" y="1280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report card</a:t>
            </a:r>
            <a:endParaRPr lang="en-US" sz="1800" dirty="0"/>
          </a:p>
        </p:txBody>
      </p:sp>
      <p:sp>
        <p:nvSpPr>
          <p:cNvPr id="15" name="fact card 1"/>
          <p:cNvSpPr/>
          <p:nvPr/>
        </p:nvSpPr>
        <p:spPr>
          <a:xfrm>
            <a:off x="457200" y="274320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dot"/>
          <p:cNvSpPr/>
          <p:nvPr/>
        </p:nvSpPr>
        <p:spPr>
          <a:xfrm>
            <a:off x="685800" y="297180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command-line tool and Node library</a:t>
            </a:r>
            <a:endParaRPr lang="en-US" sz="1400" dirty="0"/>
          </a:p>
        </p:txBody>
      </p:sp>
      <p:sp>
        <p:nvSpPr>
          <p:cNvPr id="19" name="fact card 2"/>
          <p:cNvSpPr/>
          <p:nvPr/>
        </p:nvSpPr>
        <p:spPr>
          <a:xfrm>
            <a:off x="3268980" y="274320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dot"/>
          <p:cNvSpPr/>
          <p:nvPr/>
        </p:nvSpPr>
        <p:spPr>
          <a:xfrm>
            <a:off x="3497580" y="297180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1762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as code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49758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live in a YAML file next to your project</a:t>
            </a:r>
            <a:endParaRPr lang="en-US" sz="1400" dirty="0"/>
          </a:p>
        </p:txBody>
      </p:sp>
      <p:sp>
        <p:nvSpPr>
          <p:cNvPr id="23" name="fact card 3"/>
          <p:cNvSpPr/>
          <p:nvPr/>
        </p:nvSpPr>
        <p:spPr>
          <a:xfrm>
            <a:off x="6080760" y="274320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dot"/>
          <p:cNvSpPr/>
          <p:nvPr/>
        </p:nvSpPr>
        <p:spPr>
          <a:xfrm>
            <a:off x="6309360" y="297180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2940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30936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go only to the models you choose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used</a:t>
            </a:r>
            <a:endParaRPr lang="en-US" sz="3200" dirty="0"/>
          </a:p>
        </p:txBody>
      </p:sp>
      <p:sp>
        <p:nvSpPr>
          <p:cNvPr id="4" name="why card 1"/>
          <p:cNvSpPr/>
          <p:nvPr/>
        </p:nvSpPr>
        <p:spPr>
          <a:xfrm>
            <a:off x="45720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tests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 every run, graded automatically</a:t>
            </a:r>
            <a:endParaRPr lang="en-US" sz="1400" dirty="0"/>
          </a:p>
        </p:txBody>
      </p:sp>
      <p:sp>
        <p:nvSpPr>
          <p:cNvPr id="9" name="why card 2"/>
          <p:cNvSpPr/>
          <p:nvPr/>
        </p:nvSpPr>
        <p:spPr>
          <a:xfrm>
            <a:off x="326898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345186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18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95478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options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5186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models side by side in one grid</a:t>
            </a:r>
            <a:endParaRPr lang="en-US" sz="1400" dirty="0"/>
          </a:p>
        </p:txBody>
      </p:sp>
      <p:sp>
        <p:nvSpPr>
          <p:cNvPr id="14" name="why card 3"/>
          <p:cNvSpPr/>
          <p:nvPr/>
        </p:nvSpPr>
        <p:spPr>
          <a:xfrm>
            <a:off x="6080760" y="123444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adge 3"/>
          <p:cNvSpPr/>
          <p:nvPr/>
        </p:nvSpPr>
        <p:spPr>
          <a:xfrm>
            <a:off x="626364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regressions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every change, or in CI</a:t>
            </a:r>
            <a:endParaRPr lang="en-US" sz="1400" dirty="0"/>
          </a:p>
        </p:txBody>
      </p:sp>
      <p:sp>
        <p:nvSpPr>
          <p:cNvPr id="19" name="why card 4"/>
          <p:cNvSpPr/>
          <p:nvPr/>
        </p:nvSpPr>
        <p:spPr>
          <a:xfrm>
            <a:off x="457200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badge 4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 and speed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cost and latency per answer</a:t>
            </a:r>
            <a:endParaRPr lang="en-US" sz="1400" dirty="0"/>
          </a:p>
        </p:txBody>
      </p:sp>
      <p:sp>
        <p:nvSpPr>
          <p:cNvPr id="24" name="why card 5"/>
          <p:cNvSpPr/>
          <p:nvPr/>
        </p:nvSpPr>
        <p:spPr>
          <a:xfrm>
            <a:off x="3268980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badge 5"/>
          <p:cNvSpPr/>
          <p:nvPr/>
        </p:nvSpPr>
        <p:spPr>
          <a:xfrm>
            <a:off x="345186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518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95478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for safety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45186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for jailbreaks and data leaks</a:t>
            </a:r>
            <a:endParaRPr lang="en-US" sz="1400" dirty="0"/>
          </a:p>
        </p:txBody>
      </p:sp>
      <p:sp>
        <p:nvSpPr>
          <p:cNvPr id="29" name="why card 6"/>
          <p:cNvSpPr/>
          <p:nvPr/>
        </p:nvSpPr>
        <p:spPr>
          <a:xfrm>
            <a:off x="6080760" y="28803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badge 6"/>
          <p:cNvSpPr/>
          <p:nvPr/>
        </p:nvSpPr>
        <p:spPr>
          <a:xfrm>
            <a:off x="6263640" y="3063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63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app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263640" y="3611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web APIs, or your own Python code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is used</a:t>
            </a:r>
            <a:endParaRPr lang="en-US" sz="3200" dirty="0"/>
          </a:p>
        </p:txBody>
      </p:sp>
      <p:sp>
        <p:nvSpPr>
          <p:cNvPr id="4" name="where card 1"/>
          <p:cNvSpPr/>
          <p:nvPr/>
        </p:nvSpPr>
        <p:spPr>
          <a:xfrm>
            <a:off x="457200" y="123444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640080" y="14721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80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wordings before shipping</a:t>
            </a:r>
            <a:endParaRPr lang="en-US" sz="1600" dirty="0"/>
          </a:p>
        </p:txBody>
      </p:sp>
      <p:sp>
        <p:nvSpPr>
          <p:cNvPr id="8" name="where card 2"/>
          <p:cNvSpPr/>
          <p:nvPr/>
        </p:nvSpPr>
        <p:spPr>
          <a:xfrm>
            <a:off x="4663440" y="123444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 2"/>
          <p:cNvSpPr/>
          <p:nvPr/>
        </p:nvSpPr>
        <p:spPr>
          <a:xfrm>
            <a:off x="4846320" y="1472184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472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1380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apps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answers stick to retrieved docs</a:t>
            </a:r>
            <a:endParaRPr lang="en-US" sz="1600" dirty="0"/>
          </a:p>
        </p:txBody>
      </p:sp>
      <p:sp>
        <p:nvSpPr>
          <p:cNvPr id="12" name="where card 3"/>
          <p:cNvSpPr/>
          <p:nvPr/>
        </p:nvSpPr>
        <p:spPr>
          <a:xfrm>
            <a:off x="457200" y="2258568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badge 3"/>
          <p:cNvSpPr/>
          <p:nvPr/>
        </p:nvSpPr>
        <p:spPr>
          <a:xfrm>
            <a:off x="640080" y="24963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4048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and agents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replies and tool calls</a:t>
            </a:r>
            <a:endParaRPr lang="en-US" sz="1600" dirty="0"/>
          </a:p>
        </p:txBody>
      </p:sp>
      <p:sp>
        <p:nvSpPr>
          <p:cNvPr id="16" name="where card 4"/>
          <p:cNvSpPr/>
          <p:nvPr/>
        </p:nvSpPr>
        <p:spPr>
          <a:xfrm>
            <a:off x="4663440" y="2258568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badge 4"/>
          <p:cNvSpPr/>
          <p:nvPr/>
        </p:nvSpPr>
        <p:spPr>
          <a:xfrm>
            <a:off x="4846320" y="2496312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24048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cheapest model that passes</a:t>
            </a:r>
            <a:endParaRPr lang="en-US" sz="1600" dirty="0"/>
          </a:p>
        </p:txBody>
      </p:sp>
      <p:sp>
        <p:nvSpPr>
          <p:cNvPr id="20" name="where card 5"/>
          <p:cNvSpPr/>
          <p:nvPr/>
        </p:nvSpPr>
        <p:spPr>
          <a:xfrm>
            <a:off x="457200" y="3282696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badge 5"/>
          <p:cNvSpPr/>
          <p:nvPr/>
        </p:nvSpPr>
        <p:spPr>
          <a:xfrm>
            <a:off x="640080" y="35204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the build if quality drops</a:t>
            </a:r>
            <a:endParaRPr lang="en-US" sz="1600" dirty="0"/>
          </a:p>
        </p:txBody>
      </p:sp>
      <p:sp>
        <p:nvSpPr>
          <p:cNvPr id="24" name="where card 6"/>
          <p:cNvSpPr/>
          <p:nvPr/>
        </p:nvSpPr>
        <p:spPr>
          <a:xfrm>
            <a:off x="4663440" y="3282696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badge 6"/>
          <p:cNvSpPr/>
          <p:nvPr/>
        </p:nvSpPr>
        <p:spPr>
          <a:xfrm>
            <a:off x="4846320" y="3520440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40680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scans for jailbreaks and leaks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flow box 1"/>
          <p:cNvSpPr/>
          <p:nvPr/>
        </p:nvSpPr>
        <p:spPr>
          <a:xfrm>
            <a:off x="571500" y="1280160"/>
            <a:ext cx="114300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71500" y="12801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2578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file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>
            <a:off x="1760220" y="1591056"/>
            <a:ext cx="182880" cy="20116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flow box 2"/>
          <p:cNvSpPr/>
          <p:nvPr/>
        </p:nvSpPr>
        <p:spPr>
          <a:xfrm>
            <a:off x="1943100" y="1280160"/>
            <a:ext cx="11430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943100" y="12801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9738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runner</a:t>
            </a:r>
            <a:endParaRPr lang="en-US" sz="1200" dirty="0"/>
          </a:p>
        </p:txBody>
      </p:sp>
      <p:sp>
        <p:nvSpPr>
          <p:cNvPr id="11" name="arrow 2"/>
          <p:cNvSpPr/>
          <p:nvPr/>
        </p:nvSpPr>
        <p:spPr>
          <a:xfrm>
            <a:off x="3131820" y="1591056"/>
            <a:ext cx="182880" cy="20116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flow box 3"/>
          <p:cNvSpPr/>
          <p:nvPr/>
        </p:nvSpPr>
        <p:spPr>
          <a:xfrm>
            <a:off x="3314700" y="1280160"/>
            <a:ext cx="114300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314700" y="12801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6898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or your app</a:t>
            </a:r>
            <a:endParaRPr lang="en-US" sz="1200" dirty="0"/>
          </a:p>
        </p:txBody>
      </p:sp>
      <p:sp>
        <p:nvSpPr>
          <p:cNvPr id="15" name="arrow 3"/>
          <p:cNvSpPr/>
          <p:nvPr/>
        </p:nvSpPr>
        <p:spPr>
          <a:xfrm>
            <a:off x="4503420" y="1591056"/>
            <a:ext cx="182880" cy="20116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flow box 4"/>
          <p:cNvSpPr/>
          <p:nvPr/>
        </p:nvSpPr>
        <p:spPr>
          <a:xfrm>
            <a:off x="4686300" y="1280160"/>
            <a:ext cx="114300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686300" y="12801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64058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coming back</a:t>
            </a:r>
            <a:endParaRPr lang="en-US" sz="1200" dirty="0"/>
          </a:p>
        </p:txBody>
      </p:sp>
      <p:sp>
        <p:nvSpPr>
          <p:cNvPr id="19" name="arrow 4"/>
          <p:cNvSpPr/>
          <p:nvPr/>
        </p:nvSpPr>
        <p:spPr>
          <a:xfrm>
            <a:off x="5875020" y="1591056"/>
            <a:ext cx="182880" cy="20116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flow box 5"/>
          <p:cNvSpPr/>
          <p:nvPr/>
        </p:nvSpPr>
        <p:spPr>
          <a:xfrm>
            <a:off x="6057900" y="1280160"/>
            <a:ext cx="114300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057900" y="12801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01218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AI judge</a:t>
            </a:r>
            <a:endParaRPr lang="en-US" sz="1200" dirty="0"/>
          </a:p>
        </p:txBody>
      </p:sp>
      <p:sp>
        <p:nvSpPr>
          <p:cNvPr id="23" name="arrow 5"/>
          <p:cNvSpPr/>
          <p:nvPr/>
        </p:nvSpPr>
        <p:spPr>
          <a:xfrm>
            <a:off x="7246620" y="1591056"/>
            <a:ext cx="182880" cy="20116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flow box 6"/>
          <p:cNvSpPr/>
          <p:nvPr/>
        </p:nvSpPr>
        <p:spPr>
          <a:xfrm>
            <a:off x="7429500" y="1280160"/>
            <a:ext cx="114300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429500" y="12801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83780" y="21945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web viewer</a:t>
            </a:r>
            <a:endParaRPr lang="en-US" sz="1200" dirty="0"/>
          </a:p>
        </p:txBody>
      </p:sp>
      <p:sp>
        <p:nvSpPr>
          <p:cNvPr id="27" name="key idea card"/>
          <p:cNvSpPr/>
          <p:nvPr/>
        </p:nvSpPr>
        <p:spPr>
          <a:xfrm>
            <a:off x="457200" y="3063240"/>
            <a:ext cx="822960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77240" y="3246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Promptfoo calls your code, not the other way round.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3840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 provider.py exposes call_api(), and rag.py contains no promptfoo code at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promptfoo to a project</a:t>
            </a:r>
            <a:endParaRPr lang="en-US" sz="3200" dirty="0"/>
          </a:p>
        </p:txBody>
      </p:sp>
      <p:sp>
        <p:nvSpPr>
          <p:cNvPr id="4" name="step row 1"/>
          <p:cNvSpPr/>
          <p:nvPr/>
        </p:nvSpPr>
        <p:spPr>
          <a:xfrm>
            <a:off x="457200" y="1188720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621792" y="128930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289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2618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init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only Node.js</a:t>
            </a:r>
            <a:endParaRPr lang="en-US" sz="1600" dirty="0"/>
          </a:p>
        </p:txBody>
      </p:sp>
      <p:sp>
        <p:nvSpPr>
          <p:cNvPr id="8" name="command chip 1"/>
          <p:cNvSpPr/>
          <p:nvPr/>
        </p:nvSpPr>
        <p:spPr>
          <a:xfrm>
            <a:off x="5074920" y="1280160"/>
            <a:ext cx="3474720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74920" y="12801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promptfoo@latest init</a:t>
            </a:r>
            <a:endParaRPr lang="en-US" sz="1300" dirty="0"/>
          </a:p>
        </p:txBody>
      </p:sp>
      <p:sp>
        <p:nvSpPr>
          <p:cNvPr id="10" name="step row 2"/>
          <p:cNvSpPr/>
          <p:nvPr/>
        </p:nvSpPr>
        <p:spPr>
          <a:xfrm>
            <a:off x="457200" y="1901952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badge 2"/>
          <p:cNvSpPr/>
          <p:nvPr/>
        </p:nvSpPr>
        <p:spPr>
          <a:xfrm>
            <a:off x="621792" y="200253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19751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tests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providers, tests</a:t>
            </a:r>
            <a:endParaRPr lang="en-US" sz="1600" dirty="0"/>
          </a:p>
        </p:txBody>
      </p:sp>
      <p:sp>
        <p:nvSpPr>
          <p:cNvPr id="14" name="command chip 2"/>
          <p:cNvSpPr/>
          <p:nvPr/>
        </p:nvSpPr>
        <p:spPr>
          <a:xfrm>
            <a:off x="5074920" y="1993392"/>
            <a:ext cx="3474720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19933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promptfooconfig.yaml</a:t>
            </a:r>
            <a:endParaRPr lang="en-US" sz="1300" dirty="0"/>
          </a:p>
        </p:txBody>
      </p:sp>
      <p:sp>
        <p:nvSpPr>
          <p:cNvPr id="16" name="step row 3"/>
          <p:cNvSpPr/>
          <p:nvPr/>
        </p:nvSpPr>
        <p:spPr>
          <a:xfrm>
            <a:off x="457200" y="2615184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badge 3"/>
          <p:cNvSpPr/>
          <p:nvPr/>
        </p:nvSpPr>
        <p:spPr>
          <a:xfrm>
            <a:off x="621792" y="27157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26883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app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id, web URL, or Python file</a:t>
            </a:r>
            <a:endParaRPr lang="en-US" sz="1600" dirty="0"/>
          </a:p>
        </p:txBody>
      </p:sp>
      <p:sp>
        <p:nvSpPr>
          <p:cNvPr id="20" name="command chip 3"/>
          <p:cNvSpPr/>
          <p:nvPr/>
        </p:nvSpPr>
        <p:spPr>
          <a:xfrm>
            <a:off x="5074920" y="2706624"/>
            <a:ext cx="3474720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27066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file://provider.py</a:t>
            </a:r>
            <a:endParaRPr lang="en-US" sz="1300" dirty="0"/>
          </a:p>
        </p:txBody>
      </p:sp>
      <p:sp>
        <p:nvSpPr>
          <p:cNvPr id="22" name="step row 4"/>
          <p:cNvSpPr/>
          <p:nvPr/>
        </p:nvSpPr>
        <p:spPr>
          <a:xfrm>
            <a:off x="457200" y="3328416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badge 4"/>
          <p:cNvSpPr/>
          <p:nvPr/>
        </p:nvSpPr>
        <p:spPr>
          <a:xfrm>
            <a:off x="621792" y="34290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34015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evaluation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test, every provider</a:t>
            </a:r>
            <a:endParaRPr lang="en-US" sz="1600" dirty="0"/>
          </a:p>
        </p:txBody>
      </p:sp>
      <p:sp>
        <p:nvSpPr>
          <p:cNvPr id="26" name="command chip 4"/>
          <p:cNvSpPr/>
          <p:nvPr/>
        </p:nvSpPr>
        <p:spPr>
          <a:xfrm>
            <a:off x="5074920" y="3419856"/>
            <a:ext cx="3474720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74920" y="34198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promptfoo eval</a:t>
            </a:r>
            <a:endParaRPr lang="en-US" sz="1300" dirty="0"/>
          </a:p>
        </p:txBody>
      </p:sp>
      <p:sp>
        <p:nvSpPr>
          <p:cNvPr id="28" name="step row 5"/>
          <p:cNvSpPr/>
          <p:nvPr/>
        </p:nvSpPr>
        <p:spPr>
          <a:xfrm>
            <a:off x="457200" y="4041648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badge 5"/>
          <p:cNvSpPr/>
          <p:nvPr/>
        </p:nvSpPr>
        <p:spPr>
          <a:xfrm>
            <a:off x="621792" y="41422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123444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results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web viewer</a:t>
            </a:r>
            <a:endParaRPr lang="en-US" sz="1600" dirty="0"/>
          </a:p>
        </p:txBody>
      </p:sp>
      <p:sp>
        <p:nvSpPr>
          <p:cNvPr id="32" name="command chip 5"/>
          <p:cNvSpPr/>
          <p:nvPr/>
        </p:nvSpPr>
        <p:spPr>
          <a:xfrm>
            <a:off x="5074920" y="4133088"/>
            <a:ext cx="3474720" cy="438912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74920" y="41330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promptfoo 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config looks like</a:t>
            </a:r>
            <a:endParaRPr lang="en-US" sz="3200" dirty="0"/>
          </a:p>
        </p:txBody>
      </p:sp>
      <p:sp>
        <p:nvSpPr>
          <p:cNvPr id="4" name="code card"/>
          <p:cNvSpPr/>
          <p:nvPr/>
        </p:nvSpPr>
        <p:spPr>
          <a:xfrm>
            <a:off x="457200" y="1234440"/>
            <a:ext cx="521208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"{{query}}"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file://provider.py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 { model: gpt-4o-mini 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query: "How much is express shipping?"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contains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"$14.99"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context-faithfulness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threshold: 0.9</a:t>
            </a:r>
            <a:endParaRPr lang="en-US" sz="1200" dirty="0"/>
          </a:p>
        </p:txBody>
      </p:sp>
      <p:sp>
        <p:nvSpPr>
          <p:cNvPr id="6" name="callout 1"/>
          <p:cNvSpPr/>
          <p:nvPr/>
        </p:nvSpPr>
        <p:spPr>
          <a:xfrm>
            <a:off x="5943600" y="123444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126480" y="1325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sent. {{query}} is filled in from each test</a:t>
            </a:r>
            <a:endParaRPr lang="en-US" sz="1600" dirty="0"/>
          </a:p>
        </p:txBody>
      </p:sp>
      <p:sp>
        <p:nvSpPr>
          <p:cNvPr id="8" name="callout 2"/>
          <p:cNvSpPr/>
          <p:nvPr/>
        </p:nvSpPr>
        <p:spPr>
          <a:xfrm>
            <a:off x="5943600" y="237744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26480" y="2468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answers: a model, or your own code</a:t>
            </a:r>
            <a:endParaRPr lang="en-US" sz="1600" dirty="0"/>
          </a:p>
        </p:txBody>
      </p:sp>
      <p:sp>
        <p:nvSpPr>
          <p:cNvPr id="10" name="callout 3"/>
          <p:cNvSpPr/>
          <p:nvPr/>
        </p:nvSpPr>
        <p:spPr>
          <a:xfrm>
            <a:off x="5943600" y="3520440"/>
            <a:ext cx="274320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26480" y="36118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assert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questions, and how to grade each answer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checks</a:t>
            </a:r>
            <a:endParaRPr lang="en-US" sz="3200" dirty="0"/>
          </a:p>
        </p:txBody>
      </p:sp>
      <p:sp>
        <p:nvSpPr>
          <p:cNvPr id="4" name="check card 1"/>
          <p:cNvSpPr/>
          <p:nvPr/>
        </p:nvSpPr>
        <p:spPr>
          <a:xfrm>
            <a:off x="457200" y="123444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heck header 1"/>
          <p:cNvSpPr/>
          <p:nvPr/>
        </p:nvSpPr>
        <p:spPr>
          <a:xfrm>
            <a:off x="640080" y="1417320"/>
            <a:ext cx="36576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· fast · free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 / icontains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is-json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/ javascript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and latency limits</a:t>
            </a:r>
            <a:endParaRPr lang="en-US" sz="1400" dirty="0"/>
          </a:p>
        </p:txBody>
      </p:sp>
      <p:sp>
        <p:nvSpPr>
          <p:cNvPr id="8" name="check card 2"/>
          <p:cNvSpPr/>
          <p:nvPr/>
        </p:nvSpPr>
        <p:spPr>
          <a:xfrm>
            <a:off x="4663440" y="1234440"/>
            <a:ext cx="4023360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check header 2"/>
          <p:cNvSpPr/>
          <p:nvPr/>
        </p:nvSpPr>
        <p:spPr>
          <a:xfrm>
            <a:off x="4846320" y="1417320"/>
            <a:ext cx="36576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judge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· costs tokens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2286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llm-rubric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context-faithfulness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factuality</a:t>
            </a:r>
            <a:endParaRPr lang="en-US" sz="1400" dirty="0"/>
          </a:p>
        </p:txBody>
      </p:sp>
      <p:sp>
        <p:nvSpPr>
          <p:cNvPr id="12" name="rule of thumb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rules for facts, a judge for qualities like honesty and tone.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saw in our RAG project</a:t>
            </a:r>
            <a:endParaRPr lang="en-US" sz="3200" dirty="0"/>
          </a:p>
        </p:txBody>
      </p:sp>
      <p:graphicFrame>
        <p:nvGraphicFramePr>
          <p:cNvPr id="11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window?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shipping cost?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damage covered?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the CEO? (trap)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749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is checked with a rule or a judge, plus context-faithfulness on the three answerable questions.</a:t>
            </a:r>
            <a:endParaRPr lang="en-US" sz="1200" dirty="0"/>
          </a:p>
        </p:txBody>
      </p:sp>
      <p:sp>
        <p:nvSpPr>
          <p:cNvPr id="6" name="stat card"/>
          <p:cNvSpPr/>
          <p:nvPr/>
        </p:nvSpPr>
        <p:spPr>
          <a:xfrm>
            <a:off x="6035040" y="128016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(2 models × 4 questions)</a:t>
            </a:r>
            <a:endParaRPr lang="en-US" sz="1400" dirty="0"/>
          </a:p>
        </p:txBody>
      </p:sp>
      <p:sp>
        <p:nvSpPr>
          <p:cNvPr id="9" name="prompt comparison card"/>
          <p:cNvSpPr/>
          <p:nvPr/>
        </p:nvSpPr>
        <p:spPr>
          <a:xfrm>
            <a:off x="6035040" y="283464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217920" y="297180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comparison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terse: FAIL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facts, so it guessed “30 to 90 days”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 PASS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promptfoo can do</a:t>
            </a:r>
            <a:endParaRPr lang="en-US" sz="3200" dirty="0"/>
          </a:p>
        </p:txBody>
      </p:sp>
      <p:sp>
        <p:nvSpPr>
          <p:cNvPr id="4" name="can card 1"/>
          <p:cNvSpPr/>
          <p:nvPr/>
        </p:nvSpPr>
        <p:spPr>
          <a:xfrm>
            <a:off x="457200" y="12344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ot"/>
          <p:cNvSpPr/>
          <p:nvPr/>
        </p:nvSpPr>
        <p:spPr>
          <a:xfrm>
            <a:off x="685800" y="147218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and prompts side by side</a:t>
            </a:r>
            <a:endParaRPr lang="en-US" sz="1400" dirty="0"/>
          </a:p>
        </p:txBody>
      </p:sp>
      <p:sp>
        <p:nvSpPr>
          <p:cNvPr id="7" name="can card 2"/>
          <p:cNvSpPr/>
          <p:nvPr/>
        </p:nvSpPr>
        <p:spPr>
          <a:xfrm>
            <a:off x="4663440" y="12344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dot"/>
          <p:cNvSpPr/>
          <p:nvPr/>
        </p:nvSpPr>
        <p:spPr>
          <a:xfrm>
            <a:off x="4892040" y="147218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5780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for jailbreaks and data leaks</a:t>
            </a:r>
            <a:endParaRPr lang="en-US" sz="1400" dirty="0"/>
          </a:p>
        </p:txBody>
      </p:sp>
      <p:sp>
        <p:nvSpPr>
          <p:cNvPr id="10" name="can card 3"/>
          <p:cNvSpPr/>
          <p:nvPr/>
        </p:nvSpPr>
        <p:spPr>
          <a:xfrm>
            <a:off x="45720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dot"/>
          <p:cNvSpPr/>
          <p:nvPr/>
        </p:nvSpPr>
        <p:spPr>
          <a:xfrm>
            <a:off x="685800" y="229514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2103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with rules or an AI judge</a:t>
            </a:r>
            <a:endParaRPr lang="en-US" sz="1400" dirty="0"/>
          </a:p>
        </p:txBody>
      </p:sp>
      <p:sp>
        <p:nvSpPr>
          <p:cNvPr id="13" name="can card 4"/>
          <p:cNvSpPr/>
          <p:nvPr/>
        </p:nvSpPr>
        <p:spPr>
          <a:xfrm>
            <a:off x="4663440" y="205740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dot"/>
          <p:cNvSpPr/>
          <p:nvPr/>
        </p:nvSpPr>
        <p:spPr>
          <a:xfrm>
            <a:off x="4892040" y="229514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2103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tests from CSV, JSON or sheets</a:t>
            </a:r>
            <a:endParaRPr lang="en-US" sz="1400" dirty="0"/>
          </a:p>
        </p:txBody>
      </p:sp>
      <p:sp>
        <p:nvSpPr>
          <p:cNvPr id="16" name="can card 5"/>
          <p:cNvSpPr/>
          <p:nvPr/>
        </p:nvSpPr>
        <p:spPr>
          <a:xfrm>
            <a:off x="457200" y="28803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dot"/>
          <p:cNvSpPr/>
          <p:nvPr/>
        </p:nvSpPr>
        <p:spPr>
          <a:xfrm>
            <a:off x="685800" y="311810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" y="2926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RAG answers for faithfulness</a:t>
            </a:r>
            <a:endParaRPr lang="en-US" sz="1400" dirty="0"/>
          </a:p>
        </p:txBody>
      </p:sp>
      <p:sp>
        <p:nvSpPr>
          <p:cNvPr id="19" name="can card 6"/>
          <p:cNvSpPr/>
          <p:nvPr/>
        </p:nvSpPr>
        <p:spPr>
          <a:xfrm>
            <a:off x="4663440" y="288036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dot"/>
          <p:cNvSpPr/>
          <p:nvPr/>
        </p:nvSpPr>
        <p:spPr>
          <a:xfrm>
            <a:off x="4892040" y="311810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57800" y="2926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CI and fail bad changes</a:t>
            </a:r>
            <a:endParaRPr lang="en-US" sz="1400" dirty="0"/>
          </a:p>
        </p:txBody>
      </p:sp>
      <p:sp>
        <p:nvSpPr>
          <p:cNvPr id="22" name="can card 7"/>
          <p:cNvSpPr/>
          <p:nvPr/>
        </p:nvSpPr>
        <p:spPr>
          <a:xfrm>
            <a:off x="457200" y="370332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dot"/>
          <p:cNvSpPr/>
          <p:nvPr/>
        </p:nvSpPr>
        <p:spPr>
          <a:xfrm>
            <a:off x="685800" y="394106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156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agents and tool calls</a:t>
            </a:r>
            <a:endParaRPr lang="en-US" sz="1400" dirty="0"/>
          </a:p>
        </p:txBody>
      </p:sp>
      <p:sp>
        <p:nvSpPr>
          <p:cNvPr id="25" name="can card 8"/>
          <p:cNvSpPr/>
          <p:nvPr/>
        </p:nvSpPr>
        <p:spPr>
          <a:xfrm>
            <a:off x="4663440" y="370332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dot"/>
          <p:cNvSpPr/>
          <p:nvPr/>
        </p:nvSpPr>
        <p:spPr>
          <a:xfrm>
            <a:off x="4892040" y="3941064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25780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results and browse them in a web 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promptfoo cannot do</a:t>
            </a:r>
            <a:endParaRPr lang="en-US" sz="3200" dirty="0"/>
          </a:p>
        </p:txBody>
      </p:sp>
      <p:sp>
        <p:nvSpPr>
          <p:cNvPr id="4" name="cannot card 1"/>
          <p:cNvSpPr/>
          <p:nvPr/>
        </p:nvSpPr>
        <p:spPr>
          <a:xfrm>
            <a:off x="457200" y="1188720"/>
            <a:ext cx="4023360" cy="786384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dot"/>
          <p:cNvSpPr/>
          <p:nvPr/>
        </p:nvSpPr>
        <p:spPr>
          <a:xfrm>
            <a:off x="685800" y="148132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your prompts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measures; you do the improving</a:t>
            </a:r>
            <a:endParaRPr lang="en-US" sz="1600" dirty="0"/>
          </a:p>
        </p:txBody>
      </p:sp>
      <p:sp>
        <p:nvSpPr>
          <p:cNvPr id="7" name="cannot card 2"/>
          <p:cNvSpPr/>
          <p:nvPr/>
        </p:nvSpPr>
        <p:spPr>
          <a:xfrm>
            <a:off x="4663440" y="1188720"/>
            <a:ext cx="4023360" cy="786384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dot"/>
          <p:cNvSpPr/>
          <p:nvPr/>
        </p:nvSpPr>
        <p:spPr>
          <a:xfrm>
            <a:off x="4892040" y="148132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5780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tests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only as good as your cases</a:t>
            </a:r>
            <a:endParaRPr lang="en-US" sz="1600" dirty="0"/>
          </a:p>
        </p:txBody>
      </p:sp>
      <p:sp>
        <p:nvSpPr>
          <p:cNvPr id="10" name="cannot card 3"/>
          <p:cNvSpPr/>
          <p:nvPr/>
        </p:nvSpPr>
        <p:spPr>
          <a:xfrm>
            <a:off x="457200" y="2103120"/>
            <a:ext cx="4023360" cy="786384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dot"/>
          <p:cNvSpPr/>
          <p:nvPr/>
        </p:nvSpPr>
        <p:spPr>
          <a:xfrm>
            <a:off x="685800" y="239572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156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correctness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means: passed these tests</a:t>
            </a:r>
            <a:endParaRPr lang="en-US" sz="1600" dirty="0"/>
          </a:p>
        </p:txBody>
      </p:sp>
      <p:sp>
        <p:nvSpPr>
          <p:cNvPr id="13" name="cannot card 4"/>
          <p:cNvSpPr/>
          <p:nvPr/>
        </p:nvSpPr>
        <p:spPr>
          <a:xfrm>
            <a:off x="4663440" y="2103120"/>
            <a:ext cx="4023360" cy="786384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dot"/>
          <p:cNvSpPr/>
          <p:nvPr/>
        </p:nvSpPr>
        <p:spPr>
          <a:xfrm>
            <a:off x="4892040" y="239572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perfectly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judges vary (we saw a false 0.00)</a:t>
            </a:r>
            <a:endParaRPr lang="en-US" sz="1600" dirty="0"/>
          </a:p>
        </p:txBody>
      </p:sp>
      <p:sp>
        <p:nvSpPr>
          <p:cNvPr id="16" name="cannot card 5"/>
          <p:cNvSpPr/>
          <p:nvPr/>
        </p:nvSpPr>
        <p:spPr>
          <a:xfrm>
            <a:off x="457200" y="3017520"/>
            <a:ext cx="4023360" cy="786384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dot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free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calls and repeats cost tokens</a:t>
            </a:r>
            <a:endParaRPr lang="en-US" sz="1600" dirty="0"/>
          </a:p>
        </p:txBody>
      </p:sp>
      <p:sp>
        <p:nvSpPr>
          <p:cNvPr id="19" name="cannot card 6"/>
          <p:cNvSpPr/>
          <p:nvPr/>
        </p:nvSpPr>
        <p:spPr>
          <a:xfrm>
            <a:off x="4663440" y="3017520"/>
            <a:ext cx="4023360" cy="786384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dot"/>
          <p:cNvSpPr/>
          <p:nvPr/>
        </p:nvSpPr>
        <p:spPr>
          <a:xfrm>
            <a:off x="4892040" y="3310128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5780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live traffic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tests before release, not in production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gotcha: the latest promptfoo needs Node 22.22 or newer, so we pinned version 0.118.0.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badge 1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2344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code: test them</a:t>
            </a:r>
            <a:endParaRPr lang="en-US" sz="2000" dirty="0"/>
          </a:p>
        </p:txBody>
      </p:sp>
      <p:sp>
        <p:nvSpPr>
          <p:cNvPr id="7" name="badge 2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0116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facts, an AI judge for qualities</a:t>
            </a:r>
            <a:endParaRPr lang="en-US" sz="2000" dirty="0"/>
          </a:p>
        </p:txBody>
      </p:sp>
      <p:sp>
        <p:nvSpPr>
          <p:cNvPr id="10" name="badge 3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788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means passed your tests, so keep adding cases</a:t>
            </a:r>
            <a:endParaRPr lang="en-US" sz="2000" dirty="0"/>
          </a:p>
        </p:txBody>
      </p:sp>
      <p:sp>
        <p:nvSpPr>
          <p:cNvPr id="13" name="try it card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model, add a trap question, compare two prompts.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mptfoo Teal">
  <a:themeElements>
    <a:clrScheme name="Promptfoo Teal">
      <a:dk1>
        <a:srgbClr val="0B2A3C"/>
      </a:dk1>
      <a:lt1>
        <a:srgbClr val="FFFFFF"/>
      </a:lt1>
      <a:dk2>
        <a:srgbClr val="14506B"/>
      </a:dk2>
      <a:lt2>
        <a:srgbClr val="F2F6F8"/>
      </a:lt2>
      <a:accent1>
        <a:srgbClr val="1B8A8F"/>
      </a:accent1>
      <a:accent2>
        <a:srgbClr val="F4B942"/>
      </a:accent2>
      <a:accent3>
        <a:srgbClr val="2E9E6B"/>
      </a:accent3>
      <a:accent4>
        <a:srgbClr val="D64550"/>
      </a:accent4>
      <a:accent5>
        <a:srgbClr val="5B6C7A"/>
      </a:accent5>
      <a:accent6>
        <a:srgbClr val="A9CBD6"/>
      </a:accent6>
      <a:hlink>
        <a:srgbClr val="1B8A8F"/>
      </a:hlink>
      <a:folHlink>
        <a:srgbClr val="5B6C7A"/>
      </a:folHlink>
    </a:clrScheme>
    <a:fontScheme name="Promptfoo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promptfoo: testing for AI apps</dc:title>
  <dc:subject>PptxGenJS Presentation</dc:subject>
  <dc:creator>Course material</dc:creator>
  <cp:lastModifiedBy>Course material</cp:lastModifiedBy>
  <cp:revision>1</cp:revision>
  <dcterms:created xsi:type="dcterms:W3CDTF">2026-10-15T08:56:36Z</dcterms:created>
  <dcterms:modified xsi:type="dcterms:W3CDTF">2026-10-15T08:56:36Z</dcterms:modified>
</cp:coreProperties>
</file>